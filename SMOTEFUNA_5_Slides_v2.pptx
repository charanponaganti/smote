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1. Introduction — The Class Imbalance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8CBD6"/>
                </a:solidFill>
                <a:latin typeface="Calibri"/>
              </a:rPr>
              <a:t>Why rare events break standard classifiers, and why synthetic oversampling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566928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PROBLEM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A dataset is imbalanced when one class has far fewer examples than another:</a:t>
            </a:r>
          </a:p>
        </p:txBody>
      </p:sp>
      <p:pic>
        <p:nvPicPr>
          <p:cNvPr id="10" name="Picture 9" descr="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200400"/>
            <a:ext cx="134762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02336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The majority class dominates training; minority recall drops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This hurts high-stakes tasks: fraud, disease, system failure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Collecting more minority data is often impossible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Calibri"/>
              </a:rPr>
              <a:t>COMMON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Cost-sensitive learning (needs costs + algorithm changes)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Undersample majority (can throw away useful data)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Duplicate minority (easy overfitting)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Synthetic oversampling (SMOTE family) — most practical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03320"/>
            <a:ext cx="544068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88A2E"/>
                </a:solidFill>
                <a:latin typeface="Calibri"/>
              </a:rPr>
              <a:t>WHAT THIS PAPER 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5196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SMOTE needs a neighbour count K and fills only a line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Near-neighbour copies can overfit minority clusters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Synthetics can spill into majority space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Need a parameter-free method with safer, more diverse samples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47120" cy="10972"/>
          </a:xfrm>
          <a:prstGeom prst="rect">
            <a:avLst/>
          </a:prstGeom>
          <a:solidFill>
            <a:srgbClr val="D0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5"/>
                </a:solidFill>
                <a:latin typeface="Calibri"/>
              </a:rPr>
              <a:t>SMOTEFUNA  |  Tarawneh et al.  |  IEEE Access,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5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2. Proposed Idea — Furthest-Neighbour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8CBD6"/>
                </a:solidFill>
                <a:latin typeface="Calibri"/>
              </a:rPr>
              <a:t>Create synthetics inside a cuboid between a minority seed and its furthest neighbour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768096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7223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Pick a random minority point S1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Find its furthest minority neighbour S2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The box spanning S1 and S2 is the potential space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Each feature of the new point is drawn inside that box:</a:t>
            </a:r>
          </a:p>
        </p:txBody>
      </p:sp>
      <p:pic>
        <p:nvPicPr>
          <p:cNvPr id="10" name="Picture 9" descr="sy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4317623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48056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SMOTE walks along a line; SMOTEFUNA fills a volume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 b="0">
                <a:solidFill>
                  <a:srgbClr val="1A1F24"/>
                </a:solidFill>
                <a:latin typeface="Calibri"/>
              </a:rPr>
              <a:t>Larger space means more diverse synthetics, less near-copy overfitting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23444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E8EFF1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43B"/>
                </a:solidFill>
                <a:latin typeface="Calibri"/>
              </a:rPr>
              <a:t>SMOTE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87451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Uses k nearest neighbours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Requires choosing 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Line interpolation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749039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931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6B6B"/>
                </a:solidFill>
                <a:latin typeface="Calibri"/>
              </a:rPr>
              <a:t>SMOTEFUNA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Uses furthest neighbour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No K to tune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Fills a cuboid region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47120" cy="10972"/>
          </a:xfrm>
          <a:prstGeom prst="rect">
            <a:avLst/>
          </a:prstGeom>
          <a:solidFill>
            <a:srgbClr val="D0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5"/>
                </a:solidFill>
                <a:latin typeface="Calibri"/>
              </a:rPr>
              <a:t>SMOTEFUNA  |  Tarawneh et al.  |  IEEE Access,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3. Proposed Architecture — Algorithm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8CBD6"/>
                </a:solidFill>
                <a:latin typeface="Calibri"/>
              </a:rPr>
              <a:t>Five steps from imbalanced data to a balanced training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6B6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43B"/>
                </a:solidFill>
                <a:latin typeface="Calibri"/>
              </a:rPr>
              <a:t>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5A65"/>
                </a:solidFill>
                <a:latin typeface="Calibri"/>
              </a:rPr>
              <a:t>Separate minority</a:t>
            </a:r>
          </a:p>
          <a:p>
            <a:r>
              <a:rPr sz="1300" b="0">
                <a:solidFill>
                  <a:srgbClr val="4A5A65"/>
                </a:solidFill>
                <a:latin typeface="Calibri"/>
              </a:rPr>
              <a:t>and majority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1887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6B6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43B"/>
                </a:solidFill>
                <a:latin typeface="Calibri"/>
              </a:rPr>
              <a:t>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5A65"/>
                </a:solidFill>
                <a:latin typeface="Calibri"/>
              </a:rPr>
              <a:t>Pick S1; find</a:t>
            </a:r>
          </a:p>
          <a:p>
            <a:r>
              <a:rPr sz="1300" b="0">
                <a:solidFill>
                  <a:srgbClr val="4A5A65"/>
                </a:solidFill>
                <a:latin typeface="Calibri"/>
              </a:rPr>
              <a:t>furthest S2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1887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6B6B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43B"/>
                </a:solidFill>
                <a:latin typeface="Calibri"/>
              </a:rPr>
              <a:t>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5A65"/>
                </a:solidFill>
                <a:latin typeface="Calibri"/>
              </a:rPr>
              <a:t>Draw features</a:t>
            </a:r>
          </a:p>
          <a:p>
            <a:r>
              <a:rPr sz="1300" b="0">
                <a:solidFill>
                  <a:srgbClr val="4A5A65"/>
                </a:solidFill>
                <a:latin typeface="Calibri"/>
              </a:rPr>
              <a:t>in the cuboid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1887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6B6B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43B"/>
                </a:solidFill>
                <a:latin typeface="Calibri"/>
              </a:rP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5A65"/>
                </a:solidFill>
                <a:latin typeface="Calibri"/>
              </a:rPr>
              <a:t>Keep if nearer</a:t>
            </a:r>
          </a:p>
          <a:p>
            <a:r>
              <a:rPr sz="1300" b="0">
                <a:solidFill>
                  <a:srgbClr val="4A5A65"/>
                </a:solidFill>
                <a:latin typeface="Calibri"/>
              </a:rPr>
              <a:t>to minority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59" y="1188720"/>
            <a:ext cx="21945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19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A6B6B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59" y="1325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43B"/>
                </a:solidFill>
                <a:latin typeface="Calibri"/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1737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A5A65"/>
                </a:solidFill>
                <a:latin typeface="Calibri"/>
              </a:rPr>
              <a:t>Add synthetics;</a:t>
            </a:r>
          </a:p>
          <a:p>
            <a:r>
              <a:rPr sz="1300" b="0">
                <a:solidFill>
                  <a:srgbClr val="4A5A65"/>
                </a:solidFill>
                <a:latin typeface="Calibri"/>
              </a:rPr>
              <a:t>shuffle if needed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017520"/>
            <a:ext cx="55321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SAMPLING FORMULAS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A65"/>
                </a:solidFill>
                <a:latin typeface="Calibri"/>
              </a:rPr>
              <a:t>How many synthetics</a:t>
            </a:r>
          </a:p>
        </p:txBody>
      </p:sp>
      <p:pic>
        <p:nvPicPr>
          <p:cNvPr id="30" name="Picture 29" descr="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94760"/>
            <a:ext cx="2136795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0080" y="42976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A65"/>
                </a:solidFill>
                <a:latin typeface="Calibri"/>
              </a:rPr>
              <a:t>Manhattan distance</a:t>
            </a:r>
          </a:p>
        </p:txBody>
      </p:sp>
      <p:pic>
        <p:nvPicPr>
          <p:cNvPr id="32" name="Picture 31" descr="manhatt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0"/>
            <a:ext cx="1132884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" y="5120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A65"/>
                </a:solidFill>
                <a:latin typeface="Calibri"/>
              </a:rPr>
              <a:t>New feature inside the cuboid</a:t>
            </a:r>
          </a:p>
        </p:txBody>
      </p:sp>
      <p:pic>
        <p:nvPicPr>
          <p:cNvPr id="34" name="Picture 33" descr="syn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394960"/>
            <a:ext cx="4047771" cy="4114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172200" y="3017520"/>
            <a:ext cx="55778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Calibri"/>
              </a:rPr>
              <a:t>SAFETY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5204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A65"/>
                </a:solidFill>
                <a:latin typeface="Calibri"/>
              </a:rPr>
              <a:t>Distance to nearest minority</a:t>
            </a:r>
          </a:p>
        </p:txBody>
      </p:sp>
      <p:pic>
        <p:nvPicPr>
          <p:cNvPr id="38" name="Picture 37" descr="the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94760"/>
            <a:ext cx="2630091" cy="3840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00800" y="429768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A65"/>
                </a:solidFill>
                <a:latin typeface="Calibri"/>
              </a:rPr>
              <a:t>Distance to nearest majority</a:t>
            </a:r>
          </a:p>
        </p:txBody>
      </p:sp>
      <p:pic>
        <p:nvPicPr>
          <p:cNvPr id="40" name="Picture 39" descr="be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572000"/>
            <a:ext cx="2644652" cy="3840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00800" y="51206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A65"/>
                </a:solidFill>
                <a:latin typeface="Calibri"/>
              </a:rPr>
              <a:t>Keep only if nearer to minority</a:t>
            </a:r>
          </a:p>
        </p:txBody>
      </p:sp>
      <p:pic>
        <p:nvPicPr>
          <p:cNvPr id="42" name="Picture 41" descr="acce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5394960"/>
            <a:ext cx="1639656" cy="384048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57200" y="6446520"/>
            <a:ext cx="11247120" cy="10972"/>
          </a:xfrm>
          <a:prstGeom prst="rect">
            <a:avLst/>
          </a:prstGeom>
          <a:solidFill>
            <a:srgbClr val="D0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5"/>
                </a:solidFill>
                <a:latin typeface="Calibri"/>
              </a:rPr>
              <a:t>SMOTEFUNA  |  Tarawneh et al.  |  IEEE Access, 2020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5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4. Results — Empirical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8CBD6"/>
                </a:solidFill>
                <a:latin typeface="Calibri"/>
              </a:rPr>
              <a:t>33 datasets, two classifiers, ROC and precision-recall, Wilcoxon significance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79476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33 binary imbalanced datasets (PROMISE and KEEL)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Different sizes, features, and imbalance ratios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All features kept; z-score standardized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Classifiers: Naive Bayes and SVM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5-fold cross-validation, repeated 30 times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Report mean and standard deviation of AUC and AUPR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Compared to: original data, SMOTE, ADASYN, SWIM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79476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71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Most wins on AUC and AUPR for both classifiers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ROC and PR curves improve over the original data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Competitive with or better than SMOTE, ADASYN, and SWIM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Large AUPR gains on hard cases (example: D10 with Naive Bayes)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Minority coverage looks more complete than SMOTE in figures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234440"/>
            <a:ext cx="3291840" cy="4892040"/>
          </a:xfrm>
          <a:prstGeom prst="roundRect">
            <a:avLst>
              <a:gd name="adj" fmla="val 6000"/>
            </a:avLst>
          </a:prstGeom>
          <a:solidFill>
            <a:srgbClr val="E8EFF1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371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88A2E"/>
                </a:solidFill>
                <a:latin typeface="Calibri"/>
              </a:rPr>
              <a:t>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783080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Wilcoxon signed-rank across all 33 datasets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Paired against SMOTE, ADASYN, SWIM, and original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Checked for both AUC and AUPR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All paired tests significant (p less than 0.05)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Effect sizes mostly large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Positive ranks dominate — wins favor SMOTEFUNA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47120" cy="10972"/>
          </a:xfrm>
          <a:prstGeom prst="rect">
            <a:avLst/>
          </a:prstGeom>
          <a:solidFill>
            <a:srgbClr val="D0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5"/>
                </a:solidFill>
                <a:latin typeface="Calibri"/>
              </a:rPr>
              <a:t>SMOTEFUNA  |  Tarawneh et al.  |  IEEE Access,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5. Conclusion, Limitations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8CBD6"/>
                </a:solidFill>
                <a:latin typeface="Calibri"/>
              </a:rPr>
              <a:t>What works, where it can fail, and what to do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79476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SMOTEFUNA is a parameter-free oversampler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Furthest-neighbour cuboid plus a safety filter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On 33 datasets with Naive Bayes and SVM it generally beats SMOTE, ADASYN, and SWIM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Stronger ROC / PR and AUC / AUPR overall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Easier to use in practice because there is no 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79476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71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Calibri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Isolated minority outliers can pull the cuboid away from the true boundary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Synthetic points then drift toward that outlier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Performance still depends on distance in overlapping regions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Study covers binary classification only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Not yet tested on multi-class, nominal, or very large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234440"/>
            <a:ext cx="3291840" cy="4892040"/>
          </a:xfrm>
          <a:prstGeom prst="roundRect">
            <a:avLst>
              <a:gd name="adj" fmla="val 6000"/>
            </a:avLst>
          </a:prstGeom>
          <a:solidFill>
            <a:srgbClr val="E8EFF1"/>
          </a:solidFill>
          <a:ln w="12700">
            <a:solidFill>
              <a:srgbClr val="D0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371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88A2E"/>
                </a:solidFill>
                <a:latin typeface="Calibri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783080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Remove outliers before sampling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Try outlier-robust distances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Compare against more methods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Extend to multi-class imbalance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Support nominal features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0">
                <a:solidFill>
                  <a:srgbClr val="1A1F24"/>
                </a:solidFill>
                <a:latin typeface="Calibri"/>
              </a:rPr>
              <a:t>Scale to large datasets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46520"/>
            <a:ext cx="11247120" cy="10972"/>
          </a:xfrm>
          <a:prstGeom prst="rect">
            <a:avLst/>
          </a:prstGeom>
          <a:solidFill>
            <a:srgbClr val="D0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A65"/>
                </a:solidFill>
                <a:latin typeface="Calibri"/>
              </a:rPr>
              <a:t>SMOTEFUNA  |  Tarawneh et al.  |  IEEE Access, 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A5A65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